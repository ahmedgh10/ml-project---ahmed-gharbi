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2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04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45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5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53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7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4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72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58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2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1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97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C33D14-2894-4D0B-A680-525CBB789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F13A46-6183-476D-B2BA-073C0E322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F7481D1-4DD3-45A2-B071-3900DD9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E7E168-B525-479D-B0B0-55103E5E9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7DD39E2-1720-4DA0-8AE6-88F24C073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993677B-437F-4E88-BB63-A5E81FC5C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69BDB73-647A-4675-9946-A08137AA4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7E0BD3-0A11-410E-82BA-FE1FDEFAEF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A433527-1B36-4601-BA50-08897583E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4D3F476-1743-4F27-8525-899DE7AA3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1427650-9C5D-4857-877B-F692E0A1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EE06038-8E2F-47A8-A48A-082A4688F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62AAFFB-4BBF-44E9-A93D-73CD69B0A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DC0F-1D22-4FCC-856C-8F05157BE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06CA872-1012-4E50-B09E-2A4FFAA4E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67515C6-F35A-4FF0-AFE5-F30AFB104A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CC5328A-88E7-42E6-846C-79E3C42A3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B67772-4CFC-47D4-B340-24F59A06E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2934457-5F3A-4072-8613-28DE1C6C3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709EABD-4ED9-4105-B031-A926D15E90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137950-C684-4026-B3A8-3C12C5B9DC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9BBA354-F5F6-49B0-986C-663E7490A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8A2891B-1902-4128-9EA2-9E47C63F1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68D001-CACA-4602-A2C8-6709DFEAD6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8074E4F-FCD6-4115-ADF3-537D13889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191D549D-527D-4E04-8657-6607994392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7C9FB-9333-4050-AA15-D78E190535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C3AE99-7B8F-4399-B82E-42898B8050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610BEF6-D2AC-4950-932D-80D5BD793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1A455F1-3220-4A1F-9C4C-FE1289BF2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D1D9888-DBC1-4392-913C-E8F84BB63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021C553-8CED-4BC0-98A5-730C4D043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0EB887-91B8-CFEB-47F6-F7A69EA2E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374" y="1373864"/>
            <a:ext cx="10495904" cy="13958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Smart System Anomaly Detection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A29FD-2B44-2A5D-DB98-891345F9A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964" y="3257280"/>
            <a:ext cx="5398649" cy="1643320"/>
          </a:xfrm>
        </p:spPr>
        <p:txBody>
          <a:bodyPr>
            <a:normAutofit/>
          </a:bodyPr>
          <a:lstStyle/>
          <a:p>
            <a:r>
              <a:rPr lang="en-US" dirty="0"/>
              <a:t>Presented by </a:t>
            </a:r>
            <a:r>
              <a:rPr lang="fr-FR" dirty="0"/>
              <a:t>Ahmed Gharbi</a:t>
            </a:r>
            <a:endParaRPr lang="en-US" dirty="0"/>
          </a:p>
        </p:txBody>
      </p: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33F2B4F9-421B-46F9-A5C1-235873782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94999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14867-A37C-0A46-0660-526986947F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44" r="2" b="30813"/>
          <a:stretch>
            <a:fillRect/>
          </a:stretch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2879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421E-B5C9-45A0-CB07-02203745F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1) Problem statement &amp; goals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9BFA6-2515-7341-EF42-8BD965FC2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Context</a:t>
            </a:r>
            <a:endParaRPr lang="en-US" dirty="0"/>
          </a:p>
          <a:p>
            <a:r>
              <a:rPr lang="en-US" dirty="0"/>
              <a:t>We analyze telemetry data (CPU, network, device info, location).</a:t>
            </a:r>
          </a:p>
          <a:p>
            <a:r>
              <a:rPr lang="en-US" dirty="0"/>
              <a:t>Includes normal traffic + simulated attacks (DoS, Injection, Spoofing).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Goals</a:t>
            </a:r>
            <a:endParaRPr lang="en-US" dirty="0"/>
          </a:p>
          <a:p>
            <a:r>
              <a:rPr lang="en-US" dirty="0"/>
              <a:t>Detect and classify anomalies</a:t>
            </a:r>
          </a:p>
          <a:p>
            <a:r>
              <a:rPr lang="en-US" dirty="0"/>
              <a:t>Test in realistic scenarios</a:t>
            </a:r>
          </a:p>
          <a:p>
            <a:r>
              <a:rPr lang="en-US" dirty="0"/>
              <a:t>Provide clear explanations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25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5CE9-C8D3-2FE9-9F0E-34536EFE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2) Data &amp; preprocessing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D94B9-E3C2-D025-18E6-BE6C71C75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40803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b="1" dirty="0"/>
              <a:t>Source</a:t>
            </a:r>
            <a:endParaRPr lang="da-DK" dirty="0"/>
          </a:p>
          <a:p>
            <a:r>
              <a:rPr lang="da-DK" dirty="0"/>
              <a:t>Dataset: `smart_system_anomaly_dataset.csv`</a:t>
            </a:r>
          </a:p>
          <a:p>
            <a:pPr marL="0" indent="0">
              <a:buNone/>
            </a:pPr>
            <a:r>
              <a:rPr lang="en-US" dirty="0"/>
              <a:t>Dataset includes:</a:t>
            </a:r>
          </a:p>
          <a:p>
            <a:r>
              <a:rPr lang="en-US" dirty="0"/>
              <a:t>Numeric: CPU, memory, latency, bandwidth</a:t>
            </a:r>
          </a:p>
          <a:p>
            <a:r>
              <a:rPr lang="en-US" dirty="0"/>
              <a:t>Categorical: device type, protocol, region</a:t>
            </a:r>
          </a:p>
          <a:p>
            <a:pPr marL="0" indent="0">
              <a:buNone/>
            </a:pPr>
            <a:r>
              <a:rPr lang="en-US" b="1" dirty="0"/>
              <a:t>Steps</a:t>
            </a:r>
          </a:p>
          <a:p>
            <a:r>
              <a:rPr lang="en-US" dirty="0"/>
              <a:t>Handle missing values</a:t>
            </a:r>
          </a:p>
          <a:p>
            <a:r>
              <a:rPr lang="en-US" dirty="0"/>
              <a:t>Normalize data</a:t>
            </a:r>
          </a:p>
          <a:p>
            <a:r>
              <a:rPr lang="en-US" dirty="0"/>
              <a:t>One-hot encode categories</a:t>
            </a:r>
          </a:p>
          <a:p>
            <a:pPr marL="0" indent="0">
              <a:buNone/>
            </a:pPr>
            <a:endParaRPr lang="en-US" dirty="0"/>
          </a:p>
          <a:p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270502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CB2D-177B-B957-EE16-67240B07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3) Models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5339A-9FC4-53AE-0465-BEF702EBB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use a scikit-learn pipeline.</a:t>
            </a:r>
          </a:p>
          <a:p>
            <a:pPr marL="0" indent="0">
              <a:buNone/>
            </a:pPr>
            <a:r>
              <a:rPr lang="en-US" b="1" dirty="0"/>
              <a:t>Models evaluated</a:t>
            </a:r>
            <a:endParaRPr lang="en-US" dirty="0"/>
          </a:p>
          <a:p>
            <a:r>
              <a:rPr lang="en-US" dirty="0"/>
              <a:t>Logistic Regression (baseline)</a:t>
            </a:r>
          </a:p>
          <a:p>
            <a:r>
              <a:rPr lang="en-US" dirty="0"/>
              <a:t>Random Forest (complex patterns)</a:t>
            </a:r>
          </a:p>
          <a:p>
            <a:r>
              <a:rPr lang="en-US" dirty="0"/>
              <a:t> </a:t>
            </a:r>
            <a:r>
              <a:rPr lang="en-US" dirty="0" err="1"/>
              <a:t>HistGradientBoosting</a:t>
            </a:r>
            <a:r>
              <a:rPr lang="en-US" dirty="0"/>
              <a:t> (fast &amp; powerful)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Outputs</a:t>
            </a:r>
            <a:endParaRPr lang="en-US" dirty="0"/>
          </a:p>
          <a:p>
            <a:r>
              <a:rPr lang="en-US" dirty="0"/>
              <a:t>Predicted label + confidence</a:t>
            </a:r>
          </a:p>
        </p:txBody>
      </p:sp>
    </p:spTree>
    <p:extLst>
      <p:ext uri="{BB962C8B-B14F-4D97-AF65-F5344CB8AC3E}">
        <p14:creationId xmlns:p14="http://schemas.microsoft.com/office/powerpoint/2010/main" val="1651171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EC9E5-A814-4F7E-1C93-E7ADD674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4) Evaluation strategy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8EE7-DCF1-6EB4-777C-246B0C1FE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simulate real-world conditions:</a:t>
            </a:r>
          </a:p>
          <a:p>
            <a:endParaRPr lang="en-US" dirty="0"/>
          </a:p>
          <a:p>
            <a:r>
              <a:rPr lang="en-US" dirty="0"/>
              <a:t>- Random split (baseline)</a:t>
            </a:r>
          </a:p>
          <a:p>
            <a:r>
              <a:rPr lang="en-US" dirty="0"/>
              <a:t>- Time-based split (future prediction)</a:t>
            </a:r>
          </a:p>
          <a:p>
            <a:r>
              <a:rPr lang="en-US" dirty="0"/>
              <a:t>- Group split (new devices)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makes evaluation more realistic.</a:t>
            </a:r>
          </a:p>
        </p:txBody>
      </p:sp>
    </p:spTree>
    <p:extLst>
      <p:ext uri="{BB962C8B-B14F-4D97-AF65-F5344CB8AC3E}">
        <p14:creationId xmlns:p14="http://schemas.microsoft.com/office/powerpoint/2010/main" val="274865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265D-3DF2-DD33-9575-EB898A942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5) Explainability: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69DCF-1AAF-9614-0347-749E651D7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Idea</a:t>
            </a:r>
            <a:r>
              <a:rPr lang="en-US" dirty="0"/>
              <a:t>: for an anomalous row, find the </a:t>
            </a:r>
            <a:r>
              <a:rPr lang="en-US" b="1" dirty="0"/>
              <a:t>closest normal row</a:t>
            </a:r>
            <a:r>
              <a:rPr lang="en-US" dirty="0"/>
              <a:t> in the transformed feature space.</a:t>
            </a:r>
          </a:p>
          <a:p>
            <a:pPr marL="0" indent="0">
              <a:buNone/>
            </a:pPr>
            <a:r>
              <a:rPr lang="en-US" b="1" dirty="0"/>
              <a:t>Procedure</a:t>
            </a:r>
            <a:endParaRPr lang="en-US" dirty="0"/>
          </a:p>
          <a:p>
            <a:r>
              <a:rPr lang="en-US" dirty="0"/>
              <a:t>- Transform normal samples using the fitted preprocessor</a:t>
            </a:r>
          </a:p>
          <a:p>
            <a:r>
              <a:rPr lang="en-US" dirty="0"/>
              <a:t>- Fit `</a:t>
            </a:r>
            <a:r>
              <a:rPr lang="en-US" dirty="0" err="1"/>
              <a:t>NearestNeighbors</a:t>
            </a:r>
            <a:r>
              <a:rPr lang="en-US" dirty="0"/>
              <a:t>` on those vectors</a:t>
            </a:r>
          </a:p>
          <a:p>
            <a:r>
              <a:rPr lang="en-US" dirty="0"/>
              <a:t>- For each anomaly: nearest normal + </a:t>
            </a:r>
            <a:r>
              <a:rPr lang="en-US" b="1" dirty="0"/>
              <a:t>deltas</a:t>
            </a:r>
            <a:r>
              <a:rPr lang="en-US" dirty="0"/>
              <a:t> on key features</a:t>
            </a:r>
          </a:p>
          <a:p>
            <a:pPr marL="0" indent="0">
              <a:buNone/>
            </a:pPr>
            <a:r>
              <a:rPr lang="en-US" b="1" dirty="0"/>
              <a:t>Benefit</a:t>
            </a:r>
            <a:endParaRPr lang="en-US" dirty="0"/>
          </a:p>
          <a:p>
            <a:r>
              <a:rPr lang="en-US" dirty="0"/>
              <a:t>- Simple explanation: “what changed the most vs a similar normal behavior”</a:t>
            </a:r>
          </a:p>
        </p:txBody>
      </p:sp>
    </p:spTree>
    <p:extLst>
      <p:ext uri="{BB962C8B-B14F-4D97-AF65-F5344CB8AC3E}">
        <p14:creationId xmlns:p14="http://schemas.microsoft.com/office/powerpoint/2010/main" val="76123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1BA7-388E-5374-BB62-98D627D23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6) Application (</a:t>
            </a:r>
            <a:r>
              <a:rPr lang="en-US" b="1" dirty="0" err="1"/>
              <a:t>Streamlit</a:t>
            </a:r>
            <a:r>
              <a:rPr lang="en-US" b="1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E118E-2801-D963-5F03-0B3ED02AC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User can :</a:t>
            </a:r>
            <a:endParaRPr lang="en-US" dirty="0"/>
          </a:p>
          <a:p>
            <a:r>
              <a:rPr lang="en-US" dirty="0"/>
              <a:t>1. Upload CSV</a:t>
            </a:r>
          </a:p>
          <a:p>
            <a:r>
              <a:rPr lang="en-US" dirty="0"/>
              <a:t>2.  Get predictions</a:t>
            </a:r>
          </a:p>
          <a:p>
            <a:r>
              <a:rPr lang="en-US" dirty="0"/>
              <a:t>3. View anomaly explanations</a:t>
            </a:r>
          </a:p>
          <a:p>
            <a:r>
              <a:rPr lang="en-US" dirty="0"/>
              <a:t>4. Download results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If `label` is provided the it shows the performance metrics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7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85F0-CCB2-1360-A779-482E439E1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7) Architecture &amp; reproducibility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20E6-0987-0D80-BC41-AC7D0FED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Offline</a:t>
            </a:r>
            <a:endParaRPr lang="en-US" dirty="0"/>
          </a:p>
          <a:p>
            <a:r>
              <a:rPr lang="en-US" dirty="0"/>
              <a:t>Training: `train.py`</a:t>
            </a:r>
          </a:p>
          <a:p>
            <a:r>
              <a:rPr lang="en-US" dirty="0"/>
              <a:t>Artifacts: `artifacts/</a:t>
            </a:r>
            <a:r>
              <a:rPr lang="en-US" dirty="0" err="1"/>
              <a:t>model.joblib</a:t>
            </a:r>
            <a:r>
              <a:rPr lang="en-US" dirty="0"/>
              <a:t>`, `</a:t>
            </a:r>
            <a:r>
              <a:rPr lang="en-US" dirty="0" err="1"/>
              <a:t>normal_vectors.npy</a:t>
            </a:r>
            <a:r>
              <a:rPr lang="en-US" dirty="0"/>
              <a:t>`, `normal_explain.csv`, `</a:t>
            </a:r>
            <a:r>
              <a:rPr lang="en-US" dirty="0" err="1"/>
              <a:t>train_summary.json</a:t>
            </a:r>
            <a:r>
              <a:rPr lang="en-US" dirty="0"/>
              <a:t>`</a:t>
            </a:r>
          </a:p>
          <a:p>
            <a:pPr marL="0" indent="0">
              <a:buNone/>
            </a:pPr>
            <a:r>
              <a:rPr lang="en-US" b="1" dirty="0"/>
              <a:t>Online</a:t>
            </a:r>
            <a:endParaRPr lang="en-US" dirty="0"/>
          </a:p>
          <a:p>
            <a:r>
              <a:rPr lang="en-US" dirty="0"/>
              <a:t>Inference: load artifacts → predict → explain</a:t>
            </a:r>
          </a:p>
          <a:p>
            <a:r>
              <a:rPr lang="en-US" dirty="0"/>
              <a:t>App: `app.py` (</a:t>
            </a:r>
            <a:r>
              <a:rPr lang="en-US" dirty="0" err="1"/>
              <a:t>Streamlit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b="1" dirty="0"/>
              <a:t>Deployment</a:t>
            </a:r>
            <a:endParaRPr lang="en-US" dirty="0"/>
          </a:p>
          <a:p>
            <a:r>
              <a:rPr lang="en-US" dirty="0"/>
              <a:t>GitHub + </a:t>
            </a:r>
            <a:r>
              <a:rPr lang="en-US" dirty="0" err="1"/>
              <a:t>Streamlit</a:t>
            </a:r>
            <a:r>
              <a:rPr lang="en-US" dirty="0"/>
              <a:t> Community Cloud</a:t>
            </a:r>
          </a:p>
          <a:p>
            <a:r>
              <a:rPr lang="en-US" dirty="0"/>
              <a:t>`runtime.txt` pins Python 3.11 for scientific-stack compatibility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999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6E0A-5080-17AB-C3E9-A6C23D36A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8) Results, limitations &amp; next steps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F583C-460A-BC18-4A7C-B5874C0C4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2340131"/>
            <a:ext cx="10325000" cy="40803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Results </a:t>
            </a:r>
            <a:endParaRPr lang="en-US" dirty="0"/>
          </a:p>
          <a:p>
            <a:r>
              <a:rPr lang="en-US" dirty="0"/>
              <a:t>Good performance</a:t>
            </a:r>
          </a:p>
          <a:p>
            <a:r>
              <a:rPr lang="en-US" dirty="0"/>
              <a:t>Examples of explained alerts (DoS / Injection / Spoofing)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  <a:endParaRPr lang="en-US" dirty="0"/>
          </a:p>
          <a:p>
            <a:r>
              <a:rPr lang="en-US" dirty="0"/>
              <a:t>Supervised model depends on label availability</a:t>
            </a:r>
          </a:p>
          <a:p>
            <a:r>
              <a:rPr lang="en-US" dirty="0"/>
              <a:t>Generalization to new devices/protocols/regions</a:t>
            </a:r>
          </a:p>
          <a:p>
            <a:pPr marL="0" indent="0">
              <a:buNone/>
            </a:pPr>
            <a:r>
              <a:rPr lang="en-US" b="1" dirty="0"/>
              <a:t>Next steps </a:t>
            </a:r>
            <a:endParaRPr lang="en-US" dirty="0"/>
          </a:p>
          <a:p>
            <a:r>
              <a:rPr lang="en-US" dirty="0"/>
              <a:t>- Thresholding (reject low-confidence predictions)</a:t>
            </a:r>
          </a:p>
          <a:p>
            <a:r>
              <a:rPr lang="en-US" dirty="0"/>
              <a:t>- Probability calibration</a:t>
            </a:r>
          </a:p>
          <a:p>
            <a:r>
              <a:rPr lang="en-US" dirty="0"/>
              <a:t>- Error analysis (confusions between attack classes)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021954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426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Grandview</vt:lpstr>
      <vt:lpstr>Wingdings</vt:lpstr>
      <vt:lpstr>CosineVTI</vt:lpstr>
      <vt:lpstr>Smart System Anomaly Detection </vt:lpstr>
      <vt:lpstr>1) Problem statement &amp; goals </vt:lpstr>
      <vt:lpstr>2) Data &amp; preprocessing </vt:lpstr>
      <vt:lpstr>3) Models Used </vt:lpstr>
      <vt:lpstr>4) Evaluation strategy </vt:lpstr>
      <vt:lpstr>5) Explainability:  </vt:lpstr>
      <vt:lpstr>6) Application (Streamlit) </vt:lpstr>
      <vt:lpstr>7) Architecture &amp; reproducibility </vt:lpstr>
      <vt:lpstr>8) Results, limitations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GHARBI</dc:creator>
  <cp:lastModifiedBy>Ahmed GHARBI</cp:lastModifiedBy>
  <cp:revision>2</cp:revision>
  <dcterms:created xsi:type="dcterms:W3CDTF">2026-04-11T08:12:47Z</dcterms:created>
  <dcterms:modified xsi:type="dcterms:W3CDTF">2026-04-11T10:06:32Z</dcterms:modified>
</cp:coreProperties>
</file>